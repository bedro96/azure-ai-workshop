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84" r:id="rId3"/>
    <p:sldId id="283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84"/>
            <p14:sldId id="283"/>
            <p14:sldId id="285"/>
            <p14:sldId id="286"/>
            <p14:sldId id="287"/>
            <p14:sldId id="28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241" autoAdjust="0"/>
  </p:normalViewPr>
  <p:slideViewPr>
    <p:cSldViewPr snapToGrid="0">
      <p:cViewPr varScale="1">
        <p:scale>
          <a:sx n="96" d="100"/>
          <a:sy n="96" d="100"/>
        </p:scale>
        <p:origin x="291" y="48"/>
      </p:cViewPr>
      <p:guideLst>
        <p:guide orient="horz" pos="161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Ho Ko" userId="ffa2fd32-3278-4228-ab9c-7ef07f69de14" providerId="ADAL" clId="{8F9FA6A2-2BBD-4CC6-A038-8C7AFB529F97}"/>
    <pc:docChg chg="modSld">
      <pc:chgData name="Kun Ho Ko" userId="ffa2fd32-3278-4228-ab9c-7ef07f69de14" providerId="ADAL" clId="{8F9FA6A2-2BBD-4CC6-A038-8C7AFB529F97}" dt="2026-03-16T10:08:57" v="1" actId="20577"/>
      <pc:docMkLst>
        <pc:docMk/>
      </pc:docMkLst>
      <pc:sldChg chg="modSp mod">
        <pc:chgData name="Kun Ho Ko" userId="ffa2fd32-3278-4228-ab9c-7ef07f69de14" providerId="ADAL" clId="{8F9FA6A2-2BBD-4CC6-A038-8C7AFB529F97}" dt="2026-03-16T10:08:57" v="1" actId="20577"/>
        <pc:sldMkLst>
          <pc:docMk/>
          <pc:sldMk cId="3098103935" sldId="288"/>
        </pc:sldMkLst>
        <pc:spChg chg="mod">
          <ac:chgData name="Kun Ho Ko" userId="ffa2fd32-3278-4228-ab9c-7ef07f69de14" providerId="ADAL" clId="{8F9FA6A2-2BBD-4CC6-A038-8C7AFB529F97}" dt="2026-03-16T10:08:57" v="1" actId="20577"/>
          <ac:spMkLst>
            <pc:docMk/>
            <pc:sldMk cId="3098103935" sldId="288"/>
            <ac:spMk id="34" creationId="{3C72D1F2-5158-6533-89D9-77CB2BB7DB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2026-03-16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15410-2DD3-9F31-9F32-ABF96652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F94844-CE2E-D350-2A43-BFF942E88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1A68F1-A8B8-F3AD-1851-31AD472CC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D59C0-051C-EC90-B1AD-518BCED1E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54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9DDC-444D-2795-377E-112B9076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54427E-9228-B389-D3F3-99DAC31EA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33D53D-47E7-3CDC-36ED-D2E971D5C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77C2D-F7E2-81CC-C633-FF796AE79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409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BDA8-60D1-BFCC-D457-D6364A9E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03934D-1E1C-D1D1-5FBD-371FB72D6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4F822E-D4BF-CD8A-7DF4-7A34BB4C2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DD39D-5B23-9ED6-478B-FA4D1FCCA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160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11F2-7B9D-5DA1-6C62-2CBC3CC7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2DC9E3-7026-8F2B-AB51-811F51C58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C0E1C-CD6F-08F0-C9DD-36C5C5290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08161-AD78-0987-966F-EDF88A046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140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F74C-F6D2-BDC5-A962-959BEEB0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884BCB-57FB-24E4-5196-5DAB823FA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7B555-3A55-7F64-FC63-EE86962F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1C2781-605B-5DB1-0256-9281E0572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5521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AA32-8FD5-FC9B-8D2E-57F9BA5A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DD0BB0-3E7E-58E1-8CF2-248D1FB3C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9B7391-B19C-6494-D9A8-9B57E4857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D61BC1-9D92-DA0E-7606-71417BBD0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35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8A05DDD-DBD6-4880-90DB-80726A170D63}" type="datetime1">
              <a:rPr lang="ko-KR" altLang="en-US" noProof="0" smtClean="0"/>
              <a:t>2026-03-16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C48B989-0AC6-43D9-95B5-DB76B2CC2531}" type="datetime1">
              <a:rPr lang="ko-KR" altLang="en-US" noProof="0" smtClean="0"/>
              <a:t>2026-03-16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t-workshop-foundry-kuko.openai.azure.com/openai/v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serpapi.com/" TargetMode="External"/><Relationship Id="rId4" Type="http://schemas.openxmlformats.org/officeDocument/2006/relationships/hyperlink" Target="https://kt-workshop-foundry-kuko.openai.azu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Microsoft Foundry </a:t>
            </a:r>
            <a:r>
              <a:rPr lang="ko-KR" altLang="en-US" sz="4800" dirty="0">
                <a:solidFill>
                  <a:schemeClr val="bg1"/>
                </a:solidFill>
              </a:rPr>
              <a:t>실습을 위한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ko-KR" altLang="en-US" sz="2400" dirty="0">
                <a:solidFill>
                  <a:schemeClr val="bg1"/>
                </a:solidFill>
              </a:rPr>
              <a:t>초기 설정</a:t>
            </a:r>
          </a:p>
        </p:txBody>
      </p:sp>
      <p:pic>
        <p:nvPicPr>
          <p:cNvPr id="4" name="그림 3" descr="PowerPoint 프로그램 아이콘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875EC9-BACB-CAD6-937C-5CCFBFA957FD}"/>
              </a:ext>
            </a:extLst>
          </p:cNvPr>
          <p:cNvSpPr txBox="1"/>
          <p:nvPr/>
        </p:nvSpPr>
        <p:spPr>
          <a:xfrm>
            <a:off x="1607301" y="5152616"/>
            <a:ext cx="1317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Kunho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Ko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2026-03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9706D-3C45-70CB-100F-F10C0C41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1EEB257-10F9-F5FA-CCA3-BBA29634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Microsoft Foundry Project </a:t>
            </a:r>
            <a:r>
              <a:rPr lang="ko-KR" altLang="en-US" dirty="0">
                <a:cs typeface="Segoe UI Light" panose="020B0502040204020203" pitchFamily="34" charset="0"/>
              </a:rPr>
              <a:t>설정</a:t>
            </a:r>
            <a:endParaRPr lang="ko" dirty="0">
              <a:cs typeface="Segoe UI Light" panose="020B0502040204020203" pitchFamily="34" charset="0"/>
            </a:endParaRPr>
          </a:p>
        </p:txBody>
      </p:sp>
      <p:grpSp>
        <p:nvGrpSpPr>
          <p:cNvPr id="18" name="그룹 17" descr="1단계를 나타내는 숫자 1이 표시된 작은 원">
            <a:extLst>
              <a:ext uri="{FF2B5EF4-FFF2-40B4-BE49-F238E27FC236}">
                <a16:creationId xmlns:a16="http://schemas.microsoft.com/office/drawing/2014/main" id="{20BC46C9-4907-D2C6-97A3-D7D033E2FA0D}"/>
              </a:ext>
            </a:extLst>
          </p:cNvPr>
          <p:cNvGrpSpPr/>
          <p:nvPr/>
        </p:nvGrpSpPr>
        <p:grpSpPr bwMode="blackWhite">
          <a:xfrm>
            <a:off x="593917" y="1311385"/>
            <a:ext cx="558179" cy="409838"/>
            <a:chOff x="6953426" y="711274"/>
            <a:chExt cx="558179" cy="409838"/>
          </a:xfrm>
        </p:grpSpPr>
        <p:sp>
          <p:nvSpPr>
            <p:cNvPr id="19" name="타원 18" descr="작은 원">
              <a:extLst>
                <a:ext uri="{FF2B5EF4-FFF2-40B4-BE49-F238E27FC236}">
                  <a16:creationId xmlns:a16="http://schemas.microsoft.com/office/drawing/2014/main" id="{CFA80661-969E-DEC3-81F8-3910667548A8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텍스트 상자 19" descr="숫자 1">
              <a:extLst>
                <a:ext uri="{FF2B5EF4-FFF2-40B4-BE49-F238E27FC236}">
                  <a16:creationId xmlns:a16="http://schemas.microsoft.com/office/drawing/2014/main" id="{40EB6B42-2029-6436-8ABB-33432231DB26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1</a:t>
              </a:r>
              <a:endParaRPr lang="ko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3" name="그룹 32" descr="2단계를 나타내는 숫자 2가 표시된 작은 원">
            <a:extLst>
              <a:ext uri="{FF2B5EF4-FFF2-40B4-BE49-F238E27FC236}">
                <a16:creationId xmlns:a16="http://schemas.microsoft.com/office/drawing/2014/main" id="{80FC0085-7403-2202-4232-E09A8BB5EBE4}"/>
              </a:ext>
            </a:extLst>
          </p:cNvPr>
          <p:cNvGrpSpPr/>
          <p:nvPr/>
        </p:nvGrpSpPr>
        <p:grpSpPr bwMode="blackWhite">
          <a:xfrm>
            <a:off x="591389" y="1952490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>
              <a:extLst>
                <a:ext uri="{FF2B5EF4-FFF2-40B4-BE49-F238E27FC236}">
                  <a16:creationId xmlns:a16="http://schemas.microsoft.com/office/drawing/2014/main" id="{835DBDB1-9075-C85F-9E1A-7818F868C8E8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2">
              <a:extLst>
                <a:ext uri="{FF2B5EF4-FFF2-40B4-BE49-F238E27FC236}">
                  <a16:creationId xmlns:a16="http://schemas.microsoft.com/office/drawing/2014/main" id="{F602F441-7ECC-F39C-C1F9-554AEDCCDA84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2</a:t>
              </a:r>
            </a:p>
          </p:txBody>
        </p:sp>
      </p:grpSp>
      <p:grpSp>
        <p:nvGrpSpPr>
          <p:cNvPr id="22" name="그룹 21" descr="3단계를 나타내는 숫자 3이 표시된 작은 원">
            <a:extLst>
              <a:ext uri="{FF2B5EF4-FFF2-40B4-BE49-F238E27FC236}">
                <a16:creationId xmlns:a16="http://schemas.microsoft.com/office/drawing/2014/main" id="{64384BEC-7F75-17D3-71AF-EC18680185ED}"/>
              </a:ext>
            </a:extLst>
          </p:cNvPr>
          <p:cNvGrpSpPr/>
          <p:nvPr/>
        </p:nvGrpSpPr>
        <p:grpSpPr bwMode="blackWhite">
          <a:xfrm>
            <a:off x="588861" y="2617811"/>
            <a:ext cx="558179" cy="409838"/>
            <a:chOff x="6953426" y="711274"/>
            <a:chExt cx="558179" cy="409838"/>
          </a:xfrm>
        </p:grpSpPr>
        <p:sp>
          <p:nvSpPr>
            <p:cNvPr id="24" name="타원 23" descr="작은 원">
              <a:extLst>
                <a:ext uri="{FF2B5EF4-FFF2-40B4-BE49-F238E27FC236}">
                  <a16:creationId xmlns:a16="http://schemas.microsoft.com/office/drawing/2014/main" id="{1814C9EA-2094-8A88-39A8-D831032F0DCE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텍스트 상자 29" descr="숫자 3">
              <a:extLst>
                <a:ext uri="{FF2B5EF4-FFF2-40B4-BE49-F238E27FC236}">
                  <a16:creationId xmlns:a16="http://schemas.microsoft.com/office/drawing/2014/main" id="{8A22DE16-E5EC-6DFE-E93D-2633C5EBB1CD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3</a:t>
              </a:r>
            </a:p>
          </p:txBody>
        </p:sp>
      </p:grpSp>
      <p:grpSp>
        <p:nvGrpSpPr>
          <p:cNvPr id="37" name="그룹 36" descr="4단계를 나타내는 숫자 4가 표시된 작은 원">
            <a:extLst>
              <a:ext uri="{FF2B5EF4-FFF2-40B4-BE49-F238E27FC236}">
                <a16:creationId xmlns:a16="http://schemas.microsoft.com/office/drawing/2014/main" id="{EB3F0D7A-8030-F241-BFF4-C66CFCA2F5DB}"/>
              </a:ext>
            </a:extLst>
          </p:cNvPr>
          <p:cNvGrpSpPr/>
          <p:nvPr/>
        </p:nvGrpSpPr>
        <p:grpSpPr bwMode="blackWhite">
          <a:xfrm>
            <a:off x="593916" y="3248985"/>
            <a:ext cx="558179" cy="409838"/>
            <a:chOff x="6953426" y="711274"/>
            <a:chExt cx="558179" cy="409838"/>
          </a:xfrm>
        </p:grpSpPr>
        <p:sp>
          <p:nvSpPr>
            <p:cNvPr id="38" name="타원 37" descr="작은 원">
              <a:extLst>
                <a:ext uri="{FF2B5EF4-FFF2-40B4-BE49-F238E27FC236}">
                  <a16:creationId xmlns:a16="http://schemas.microsoft.com/office/drawing/2014/main" id="{8C3B5D2D-74BA-3104-530D-C2036D893EA0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텍스트 상자 38" descr="숫자 4">
              <a:extLst>
                <a:ext uri="{FF2B5EF4-FFF2-40B4-BE49-F238E27FC236}">
                  <a16:creationId xmlns:a16="http://schemas.microsoft.com/office/drawing/2014/main" id="{80CB400F-417A-DD5B-128B-125CA39E4E99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ko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CD69B8A-F09D-4F02-0287-A1B86CF6E9DF}"/>
              </a:ext>
            </a:extLst>
          </p:cNvPr>
          <p:cNvSpPr txBox="1"/>
          <p:nvPr/>
        </p:nvSpPr>
        <p:spPr>
          <a:xfrm>
            <a:off x="970460" y="1333688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임시 </a:t>
            </a:r>
            <a:r>
              <a:rPr lang="ko-KR" altLang="en-US" dirty="0" err="1"/>
              <a:t>페스워드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사용할 </a:t>
            </a:r>
            <a:r>
              <a:rPr lang="ko-KR" altLang="en-US" dirty="0" err="1"/>
              <a:t>페스워드</a:t>
            </a:r>
            <a:r>
              <a:rPr lang="ko-KR" altLang="en-US" dirty="0"/>
              <a:t> 설정 및 </a:t>
            </a:r>
            <a:r>
              <a:rPr lang="en-US" altLang="ko-KR" dirty="0"/>
              <a:t>MFA(Authenticator)</a:t>
            </a:r>
            <a:r>
              <a:rPr lang="ko-KR" altLang="en-US" dirty="0"/>
              <a:t> 필요시 설정</a:t>
            </a:r>
            <a:r>
              <a:rPr lang="en-US" altLang="ko-KR" dirty="0"/>
              <a:t>.	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1AD81-2228-7CC9-841F-6CBF5D770547}"/>
              </a:ext>
            </a:extLst>
          </p:cNvPr>
          <p:cNvSpPr txBox="1"/>
          <p:nvPr/>
        </p:nvSpPr>
        <p:spPr>
          <a:xfrm>
            <a:off x="1084676" y="1934287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3"/>
              </a:rPr>
              <a:t>https://portal.azure.com</a:t>
            </a:r>
            <a:r>
              <a:rPr lang="en-US" altLang="ko-KR" dirty="0"/>
              <a:t> </a:t>
            </a:r>
            <a:r>
              <a:rPr lang="ko-KR" altLang="en-US" dirty="0"/>
              <a:t>접속 후</a:t>
            </a:r>
            <a:r>
              <a:rPr lang="en-US" altLang="ko-KR" dirty="0"/>
              <a:t>, </a:t>
            </a:r>
            <a:r>
              <a:rPr lang="ko-KR" altLang="en-US" dirty="0"/>
              <a:t>본인의 구독확인</a:t>
            </a:r>
            <a:r>
              <a:rPr lang="en-US" altLang="ko-KR" dirty="0"/>
              <a:t>(sub-open-</a:t>
            </a:r>
            <a:r>
              <a:rPr lang="en-US" altLang="ko-KR" dirty="0" err="1"/>
              <a:t>techedu</a:t>
            </a:r>
            <a:r>
              <a:rPr lang="en-US" altLang="ko-KR" dirty="0"/>
              <a:t>-training-XX)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B2911-3C28-A24F-9811-5DF21AB78784}"/>
              </a:ext>
            </a:extLst>
          </p:cNvPr>
          <p:cNvSpPr txBox="1"/>
          <p:nvPr/>
        </p:nvSpPr>
        <p:spPr>
          <a:xfrm>
            <a:off x="1084676" y="2628088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Portal </a:t>
            </a:r>
            <a:r>
              <a:rPr lang="ko-KR" altLang="en-US" dirty="0"/>
              <a:t>상단에 </a:t>
            </a:r>
            <a:r>
              <a:rPr lang="en-US" altLang="ko-KR" dirty="0"/>
              <a:t>Search resources</a:t>
            </a:r>
            <a:r>
              <a:rPr lang="ko-KR" altLang="en-US" dirty="0"/>
              <a:t>에서 </a:t>
            </a:r>
            <a:r>
              <a:rPr lang="en-US" altLang="ko-KR" dirty="0"/>
              <a:t>resource group </a:t>
            </a:r>
            <a:r>
              <a:rPr lang="ko-KR" altLang="en-US" dirty="0"/>
              <a:t>입력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57378B-3790-6CC5-D7AA-FA206ACDE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40" y="3287396"/>
            <a:ext cx="7163800" cy="32865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624C0E-9CBE-7589-2E90-CD6BBF526DF9}"/>
              </a:ext>
            </a:extLst>
          </p:cNvPr>
          <p:cNvSpPr txBox="1"/>
          <p:nvPr/>
        </p:nvSpPr>
        <p:spPr>
          <a:xfrm>
            <a:off x="8353493" y="4988148"/>
            <a:ext cx="38813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자신의 </a:t>
            </a:r>
            <a:r>
              <a:rPr lang="en-US" altLang="ko-KR" dirty="0"/>
              <a:t>Subscription</a:t>
            </a:r>
            <a:r>
              <a:rPr lang="ko-KR" altLang="en-US" dirty="0"/>
              <a:t>확인</a:t>
            </a:r>
            <a:endParaRPr lang="en-US" altLang="ko-KR" dirty="0"/>
          </a:p>
          <a:p>
            <a:r>
              <a:rPr lang="en-US" altLang="ko-KR" dirty="0"/>
              <a:t>Resource Group Name : </a:t>
            </a:r>
            <a:br>
              <a:rPr lang="en-US" altLang="ko-KR" dirty="0"/>
            </a:br>
            <a:r>
              <a:rPr lang="en-US" altLang="ko-KR" dirty="0"/>
              <a:t>    ai-foundry-XXXXX</a:t>
            </a:r>
          </a:p>
          <a:p>
            <a:r>
              <a:rPr lang="en-US" altLang="ko-KR" dirty="0"/>
              <a:t>Region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(Europe) Sweden Central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0695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2961-F3E1-A3DC-5881-4BD3B59F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 descr="1단계를 나타내는 숫자 1이 표시된 작은 원">
            <a:extLst>
              <a:ext uri="{FF2B5EF4-FFF2-40B4-BE49-F238E27FC236}">
                <a16:creationId xmlns:a16="http://schemas.microsoft.com/office/drawing/2014/main" id="{B3FE3991-CB9D-96D5-5AAE-1B5496C32195}"/>
              </a:ext>
            </a:extLst>
          </p:cNvPr>
          <p:cNvGrpSpPr/>
          <p:nvPr/>
        </p:nvGrpSpPr>
        <p:grpSpPr bwMode="blackWhite">
          <a:xfrm>
            <a:off x="593917" y="1311385"/>
            <a:ext cx="558179" cy="409838"/>
            <a:chOff x="6953426" y="711274"/>
            <a:chExt cx="558179" cy="409838"/>
          </a:xfrm>
        </p:grpSpPr>
        <p:sp>
          <p:nvSpPr>
            <p:cNvPr id="19" name="타원 18" descr="작은 원">
              <a:extLst>
                <a:ext uri="{FF2B5EF4-FFF2-40B4-BE49-F238E27FC236}">
                  <a16:creationId xmlns:a16="http://schemas.microsoft.com/office/drawing/2014/main" id="{155E8C92-9104-E10C-3A1F-5DFC7FC0C4EA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텍스트 상자 19" descr="숫자 1">
              <a:extLst>
                <a:ext uri="{FF2B5EF4-FFF2-40B4-BE49-F238E27FC236}">
                  <a16:creationId xmlns:a16="http://schemas.microsoft.com/office/drawing/2014/main" id="{FB17CB96-F8F0-0F2D-1D5F-619928CC6A3E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5</a:t>
              </a:r>
              <a:endParaRPr lang="ko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3" name="그룹 32" descr="2단계를 나타내는 숫자 2가 표시된 작은 원">
            <a:extLst>
              <a:ext uri="{FF2B5EF4-FFF2-40B4-BE49-F238E27FC236}">
                <a16:creationId xmlns:a16="http://schemas.microsoft.com/office/drawing/2014/main" id="{EFD22952-2316-AD92-EE1D-C181A1805455}"/>
              </a:ext>
            </a:extLst>
          </p:cNvPr>
          <p:cNvGrpSpPr/>
          <p:nvPr/>
        </p:nvGrpSpPr>
        <p:grpSpPr bwMode="blackWhite">
          <a:xfrm>
            <a:off x="591389" y="1952490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>
              <a:extLst>
                <a:ext uri="{FF2B5EF4-FFF2-40B4-BE49-F238E27FC236}">
                  <a16:creationId xmlns:a16="http://schemas.microsoft.com/office/drawing/2014/main" id="{5B550324-200F-DA9F-B7EE-7BBCFC416A12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2">
              <a:extLst>
                <a:ext uri="{FF2B5EF4-FFF2-40B4-BE49-F238E27FC236}">
                  <a16:creationId xmlns:a16="http://schemas.microsoft.com/office/drawing/2014/main" id="{F65D49EE-C733-46B6-67DD-E17754972379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6</a:t>
              </a:r>
              <a:endParaRPr lang="ko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1F56688-E13E-5314-68AF-1DD7D5B751D3}"/>
              </a:ext>
            </a:extLst>
          </p:cNvPr>
          <p:cNvSpPr txBox="1"/>
          <p:nvPr/>
        </p:nvSpPr>
        <p:spPr>
          <a:xfrm>
            <a:off x="970460" y="1333688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생성 완료 후</a:t>
            </a:r>
            <a:r>
              <a:rPr lang="en-US" altLang="ko-KR" dirty="0"/>
              <a:t>, porta</a:t>
            </a:r>
            <a:r>
              <a:rPr lang="ko-KR" altLang="en-US" dirty="0"/>
              <a:t>에서 생성된 </a:t>
            </a:r>
            <a:r>
              <a:rPr lang="en-US" altLang="ko-KR" dirty="0"/>
              <a:t>resource group </a:t>
            </a:r>
            <a:r>
              <a:rPr lang="ko-KR" altLang="en-US" dirty="0"/>
              <a:t>클릭 후 </a:t>
            </a:r>
            <a:r>
              <a:rPr lang="en-US" altLang="ko-KR" dirty="0"/>
              <a:t>Resource Group </a:t>
            </a:r>
            <a:r>
              <a:rPr lang="ko-KR" altLang="en-US" dirty="0"/>
              <a:t>화면 진입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9914B-F3C2-235F-754C-AE0D4DCB7680}"/>
              </a:ext>
            </a:extLst>
          </p:cNvPr>
          <p:cNvSpPr txBox="1"/>
          <p:nvPr/>
        </p:nvSpPr>
        <p:spPr>
          <a:xfrm>
            <a:off x="1070342" y="2000922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+ Create </a:t>
            </a:r>
            <a:r>
              <a:rPr lang="ko-KR" altLang="en-US" dirty="0"/>
              <a:t>클릭 후 완료 후</a:t>
            </a:r>
            <a:r>
              <a:rPr lang="en-US" altLang="ko-KR" dirty="0"/>
              <a:t>, Microsoft Foundry </a:t>
            </a:r>
            <a:r>
              <a:rPr lang="ko-KR" altLang="en-US" dirty="0"/>
              <a:t>입력 후 </a:t>
            </a:r>
            <a:r>
              <a:rPr lang="en-US" altLang="ko-KR" dirty="0"/>
              <a:t>enter.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5BFB512-A1CC-D46C-E227-AA138878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592" y="2565400"/>
            <a:ext cx="7461709" cy="384391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0EEBF6-2EE9-355F-A8AE-35079744D746}"/>
              </a:ext>
            </a:extLst>
          </p:cNvPr>
          <p:cNvSpPr/>
          <p:nvPr/>
        </p:nvSpPr>
        <p:spPr>
          <a:xfrm>
            <a:off x="1516427" y="4072204"/>
            <a:ext cx="1488030" cy="233774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6" name="제목 3">
            <a:extLst>
              <a:ext uri="{FF2B5EF4-FFF2-40B4-BE49-F238E27FC236}">
                <a16:creationId xmlns:a16="http://schemas.microsoft.com/office/drawing/2014/main" id="{A5256009-F502-D665-0CCD-81D6D07A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Microsoft Foundry Project </a:t>
            </a:r>
            <a:r>
              <a:rPr lang="ko-KR" altLang="en-US" dirty="0">
                <a:cs typeface="Segoe UI Light" panose="020B0502040204020203" pitchFamily="34" charset="0"/>
              </a:rPr>
              <a:t>설정</a:t>
            </a:r>
            <a:endParaRPr lang="ko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600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1CF1-DF2E-69CD-0C92-7DE5F191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 descr="1단계를 나타내는 숫자 1이 표시된 작은 원">
            <a:extLst>
              <a:ext uri="{FF2B5EF4-FFF2-40B4-BE49-F238E27FC236}">
                <a16:creationId xmlns:a16="http://schemas.microsoft.com/office/drawing/2014/main" id="{4C5325BB-28D6-5084-24B2-78AD622C63D5}"/>
              </a:ext>
            </a:extLst>
          </p:cNvPr>
          <p:cNvGrpSpPr/>
          <p:nvPr/>
        </p:nvGrpSpPr>
        <p:grpSpPr bwMode="blackWhite">
          <a:xfrm>
            <a:off x="593917" y="1311385"/>
            <a:ext cx="558179" cy="409838"/>
            <a:chOff x="6953426" y="711274"/>
            <a:chExt cx="558179" cy="409838"/>
          </a:xfrm>
        </p:grpSpPr>
        <p:sp>
          <p:nvSpPr>
            <p:cNvPr id="19" name="타원 18" descr="작은 원">
              <a:extLst>
                <a:ext uri="{FF2B5EF4-FFF2-40B4-BE49-F238E27FC236}">
                  <a16:creationId xmlns:a16="http://schemas.microsoft.com/office/drawing/2014/main" id="{EDD2B226-9E22-3EC8-C579-5D7BB201B4FF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텍스트 상자 19" descr="숫자 1">
              <a:extLst>
                <a:ext uri="{FF2B5EF4-FFF2-40B4-BE49-F238E27FC236}">
                  <a16:creationId xmlns:a16="http://schemas.microsoft.com/office/drawing/2014/main" id="{C814E083-2965-41CE-27BE-F0C9856986F4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7</a:t>
              </a:r>
              <a:endParaRPr lang="ko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3" name="그룹 32" descr="2단계를 나타내는 숫자 2가 표시된 작은 원">
            <a:extLst>
              <a:ext uri="{FF2B5EF4-FFF2-40B4-BE49-F238E27FC236}">
                <a16:creationId xmlns:a16="http://schemas.microsoft.com/office/drawing/2014/main" id="{1305C695-FD13-92D9-0D2E-A837EF39E0FD}"/>
              </a:ext>
            </a:extLst>
          </p:cNvPr>
          <p:cNvGrpSpPr/>
          <p:nvPr/>
        </p:nvGrpSpPr>
        <p:grpSpPr bwMode="blackWhite">
          <a:xfrm>
            <a:off x="591389" y="1952490"/>
            <a:ext cx="558179" cy="409838"/>
            <a:chOff x="6953426" y="711274"/>
            <a:chExt cx="558179" cy="409838"/>
          </a:xfrm>
        </p:grpSpPr>
        <p:sp>
          <p:nvSpPr>
            <p:cNvPr id="34" name="타원 33" descr="작은 원">
              <a:extLst>
                <a:ext uri="{FF2B5EF4-FFF2-40B4-BE49-F238E27FC236}">
                  <a16:creationId xmlns:a16="http://schemas.microsoft.com/office/drawing/2014/main" id="{58EB9E2F-ED76-FF07-DF64-4CB41D271834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텍스트 상자 34" descr="숫자 2">
              <a:extLst>
                <a:ext uri="{FF2B5EF4-FFF2-40B4-BE49-F238E27FC236}">
                  <a16:creationId xmlns:a16="http://schemas.microsoft.com/office/drawing/2014/main" id="{80E3ACF2-585E-0056-DF64-37F681F2FE91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8</a:t>
              </a:r>
              <a:endParaRPr lang="ko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FD1F4B-AFF4-6FC6-7313-2EEA945CDC4B}"/>
              </a:ext>
            </a:extLst>
          </p:cNvPr>
          <p:cNvSpPr txBox="1"/>
          <p:nvPr/>
        </p:nvSpPr>
        <p:spPr>
          <a:xfrm>
            <a:off x="970460" y="1333688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생성 완료 후</a:t>
            </a:r>
            <a:r>
              <a:rPr lang="en-US" altLang="ko-KR" dirty="0"/>
              <a:t>, porta</a:t>
            </a:r>
            <a:r>
              <a:rPr lang="ko-KR" altLang="en-US" dirty="0"/>
              <a:t>에서 생성된 </a:t>
            </a:r>
            <a:r>
              <a:rPr lang="en-US" altLang="ko-KR" dirty="0"/>
              <a:t>resource group </a:t>
            </a:r>
            <a:r>
              <a:rPr lang="ko-KR" altLang="en-US" dirty="0"/>
              <a:t>클릭 후 </a:t>
            </a:r>
            <a:r>
              <a:rPr lang="en-US" altLang="ko-KR" dirty="0"/>
              <a:t>Resource Group </a:t>
            </a:r>
            <a:r>
              <a:rPr lang="ko-KR" altLang="en-US" dirty="0"/>
              <a:t>화면 진입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51BF2-8086-9F6E-CA60-B81A3AA7D96E}"/>
              </a:ext>
            </a:extLst>
          </p:cNvPr>
          <p:cNvSpPr txBox="1"/>
          <p:nvPr/>
        </p:nvSpPr>
        <p:spPr>
          <a:xfrm>
            <a:off x="1070342" y="2000922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Create a Foundry resource</a:t>
            </a:r>
            <a:r>
              <a:rPr lang="ko-KR" altLang="en-US" dirty="0"/>
              <a:t>화면에서 아래와 같이 입력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838EE0-E44C-D46F-85AB-2AB2469E5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33" y="2609885"/>
            <a:ext cx="6601052" cy="380383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2CAAAA-D4B3-7CE0-6913-CB99698FE696}"/>
              </a:ext>
            </a:extLst>
          </p:cNvPr>
          <p:cNvSpPr/>
          <p:nvPr/>
        </p:nvSpPr>
        <p:spPr>
          <a:xfrm>
            <a:off x="704258" y="3449247"/>
            <a:ext cx="6503031" cy="1062553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3DBCF-512F-C624-5247-F34BD5F90E6D}"/>
              </a:ext>
            </a:extLst>
          </p:cNvPr>
          <p:cNvSpPr txBox="1"/>
          <p:nvPr/>
        </p:nvSpPr>
        <p:spPr>
          <a:xfrm>
            <a:off x="7345246" y="3017801"/>
            <a:ext cx="4500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dirty="0"/>
              <a:t>Subscription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ko-KR" altLang="en-US" dirty="0"/>
              <a:t>방금 전 만든 </a:t>
            </a:r>
            <a:r>
              <a:rPr lang="en-US" altLang="ko-KR" dirty="0"/>
              <a:t>Resource Group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dirty="0"/>
              <a:t>Name: KT-Workshop-XXXX (XXX</a:t>
            </a:r>
            <a:r>
              <a:rPr lang="ko-KR" altLang="en-US" dirty="0"/>
              <a:t>임의</a:t>
            </a:r>
            <a:r>
              <a:rPr lang="en-US" altLang="ko-KR" dirty="0"/>
              <a:t>)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dirty="0"/>
              <a:t>Region: Sweden Central (</a:t>
            </a:r>
            <a:r>
              <a:rPr lang="ko-KR" altLang="en-US" dirty="0"/>
              <a:t>꼭</a:t>
            </a:r>
            <a:r>
              <a:rPr lang="en-US" altLang="ko-KR" dirty="0"/>
              <a:t>)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ko-KR" dirty="0"/>
              <a:t>Default</a:t>
            </a:r>
            <a:r>
              <a:rPr lang="ko-KR" altLang="en-US" dirty="0"/>
              <a:t> </a:t>
            </a:r>
            <a:r>
              <a:rPr lang="en-US" altLang="ko-KR" dirty="0"/>
              <a:t>project</a:t>
            </a:r>
            <a:r>
              <a:rPr lang="ko-KR" altLang="en-US" dirty="0"/>
              <a:t> </a:t>
            </a:r>
            <a:r>
              <a:rPr lang="en-US" altLang="ko-KR" dirty="0"/>
              <a:t>Name:</a:t>
            </a:r>
            <a:r>
              <a:rPr lang="ko-KR" altLang="en-US" dirty="0"/>
              <a:t> </a:t>
            </a:r>
            <a:r>
              <a:rPr lang="en-US" altLang="ko-KR" dirty="0" err="1"/>
              <a:t>proj</a:t>
            </a:r>
            <a:r>
              <a:rPr lang="en-US" altLang="ko-KR" dirty="0"/>
              <a:t>-default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나머지 </a:t>
            </a:r>
            <a:r>
              <a:rPr lang="en-US" altLang="ko-KR" dirty="0"/>
              <a:t>Next </a:t>
            </a:r>
            <a:r>
              <a:rPr lang="ko-KR" altLang="en-US" dirty="0"/>
              <a:t>클릭 후</a:t>
            </a:r>
            <a:r>
              <a:rPr lang="en-US" altLang="ko-KR" dirty="0"/>
              <a:t>, Review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create</a:t>
            </a:r>
            <a:endParaRPr lang="ko-KR" altLang="en-US" dirty="0"/>
          </a:p>
        </p:txBody>
      </p:sp>
      <p:sp>
        <p:nvSpPr>
          <p:cNvPr id="11" name="제목 3">
            <a:extLst>
              <a:ext uri="{FF2B5EF4-FFF2-40B4-BE49-F238E27FC236}">
                <a16:creationId xmlns:a16="http://schemas.microsoft.com/office/drawing/2014/main" id="{1BE2A841-3536-22F4-CAB8-EA6FF34A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47675"/>
            <a:ext cx="6877050" cy="639763"/>
          </a:xfrm>
        </p:spPr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Microsoft Foundry Project </a:t>
            </a:r>
            <a:r>
              <a:rPr lang="ko-KR" altLang="en-US" dirty="0">
                <a:cs typeface="Segoe UI Light" panose="020B0502040204020203" pitchFamily="34" charset="0"/>
              </a:rPr>
              <a:t>설정</a:t>
            </a:r>
            <a:endParaRPr lang="ko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422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B069-BB34-F358-9806-BAB633EE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 descr="1단계를 나타내는 숫자 1이 표시된 작은 원">
            <a:extLst>
              <a:ext uri="{FF2B5EF4-FFF2-40B4-BE49-F238E27FC236}">
                <a16:creationId xmlns:a16="http://schemas.microsoft.com/office/drawing/2014/main" id="{BFAE8F2A-1E6B-6543-5DF6-4F47EFC6113B}"/>
              </a:ext>
            </a:extLst>
          </p:cNvPr>
          <p:cNvGrpSpPr/>
          <p:nvPr/>
        </p:nvGrpSpPr>
        <p:grpSpPr bwMode="blackWhite">
          <a:xfrm>
            <a:off x="593917" y="1311385"/>
            <a:ext cx="558179" cy="409838"/>
            <a:chOff x="6953426" y="711274"/>
            <a:chExt cx="558179" cy="409838"/>
          </a:xfrm>
        </p:grpSpPr>
        <p:sp>
          <p:nvSpPr>
            <p:cNvPr id="19" name="타원 18" descr="작은 원">
              <a:extLst>
                <a:ext uri="{FF2B5EF4-FFF2-40B4-BE49-F238E27FC236}">
                  <a16:creationId xmlns:a16="http://schemas.microsoft.com/office/drawing/2014/main" id="{68B85DA7-3906-D50E-6403-D193EB09B006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텍스트 상자 19" descr="숫자 1">
              <a:extLst>
                <a:ext uri="{FF2B5EF4-FFF2-40B4-BE49-F238E27FC236}">
                  <a16:creationId xmlns:a16="http://schemas.microsoft.com/office/drawing/2014/main" id="{094E661E-A241-4C5F-A181-4AA8A4711C3F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rPr>
                <a:t>9</a:t>
              </a:r>
              <a:endParaRPr lang="ko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E2CF9A-965E-07F4-4153-94E38BC869E3}"/>
              </a:ext>
            </a:extLst>
          </p:cNvPr>
          <p:cNvSpPr txBox="1"/>
          <p:nvPr/>
        </p:nvSpPr>
        <p:spPr>
          <a:xfrm>
            <a:off x="970460" y="1333688"/>
            <a:ext cx="883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Go to Foundry portal.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7DA784-0567-53A1-B4CE-76B1964CB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18152"/>
            <a:ext cx="10129428" cy="4591792"/>
          </a:xfrm>
          <a:prstGeom prst="rect">
            <a:avLst/>
          </a:prstGeom>
        </p:spPr>
      </p:pic>
      <p:sp>
        <p:nvSpPr>
          <p:cNvPr id="12" name="제목 3">
            <a:extLst>
              <a:ext uri="{FF2B5EF4-FFF2-40B4-BE49-F238E27FC236}">
                <a16:creationId xmlns:a16="http://schemas.microsoft.com/office/drawing/2014/main" id="{A4B541A4-8ECB-E50B-2CB6-4337D802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47675"/>
            <a:ext cx="6877050" cy="639763"/>
          </a:xfrm>
        </p:spPr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Microsoft Foundry Project </a:t>
            </a:r>
            <a:r>
              <a:rPr lang="ko-KR" altLang="en-US" dirty="0">
                <a:cs typeface="Segoe UI Light" panose="020B0502040204020203" pitchFamily="34" charset="0"/>
              </a:rPr>
              <a:t>설정</a:t>
            </a:r>
            <a:endParaRPr lang="ko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747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1AD1-D7EA-3265-AAE7-CB48EE63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56C67C5-9C96-7BB9-E1DE-18E322107F73}"/>
              </a:ext>
            </a:extLst>
          </p:cNvPr>
          <p:cNvGrpSpPr/>
          <p:nvPr/>
        </p:nvGrpSpPr>
        <p:grpSpPr>
          <a:xfrm>
            <a:off x="593917" y="1311385"/>
            <a:ext cx="9208905" cy="409838"/>
            <a:chOff x="593917" y="1311385"/>
            <a:chExt cx="9208905" cy="409838"/>
          </a:xfrm>
        </p:grpSpPr>
        <p:grpSp>
          <p:nvGrpSpPr>
            <p:cNvPr id="18" name="그룹 17" descr="1단계를 나타내는 숫자 1이 표시된 작은 원">
              <a:extLst>
                <a:ext uri="{FF2B5EF4-FFF2-40B4-BE49-F238E27FC236}">
                  <a16:creationId xmlns:a16="http://schemas.microsoft.com/office/drawing/2014/main" id="{7D312900-351C-6436-2825-4DE55EB797FA}"/>
                </a:ext>
              </a:extLst>
            </p:cNvPr>
            <p:cNvGrpSpPr/>
            <p:nvPr/>
          </p:nvGrpSpPr>
          <p:grpSpPr bwMode="blackWhite">
            <a:xfrm>
              <a:off x="593917" y="1311385"/>
              <a:ext cx="558179" cy="409838"/>
              <a:chOff x="6953426" y="711274"/>
              <a:chExt cx="558179" cy="409838"/>
            </a:xfrm>
          </p:grpSpPr>
          <p:sp>
            <p:nvSpPr>
              <p:cNvPr id="19" name="타원 18" descr="작은 원">
                <a:extLst>
                  <a:ext uri="{FF2B5EF4-FFF2-40B4-BE49-F238E27FC236}">
                    <a16:creationId xmlns:a16="http://schemas.microsoft.com/office/drawing/2014/main" id="{077AF3A5-EADA-C360-3163-83AFA6EDB30B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텍스트 상자 19" descr="숫자 1">
                <a:extLst>
                  <a:ext uri="{FF2B5EF4-FFF2-40B4-BE49-F238E27FC236}">
                    <a16:creationId xmlns:a16="http://schemas.microsoft.com/office/drawing/2014/main" id="{3AFEA76B-146D-8BB0-C3E1-29DEADC00BA4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10</a:t>
                </a:r>
                <a:endPara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8191333-9782-50B7-FF53-38BA460C3DEF}"/>
                </a:ext>
              </a:extLst>
            </p:cNvPr>
            <p:cNvSpPr txBox="1"/>
            <p:nvPr/>
          </p:nvSpPr>
          <p:spPr>
            <a:xfrm>
              <a:off x="970460" y="1333688"/>
              <a:ext cx="8832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</a:t>
              </a:r>
              <a:r>
                <a:rPr lang="ko-KR" altLang="en-US" dirty="0"/>
                <a:t>새 </a:t>
              </a:r>
              <a:r>
                <a:rPr lang="en-US" altLang="ko-KR" dirty="0"/>
                <a:t>foundry portal</a:t>
              </a:r>
              <a:r>
                <a:rPr lang="ko-KR" altLang="en-US" dirty="0"/>
                <a:t>이 되어 있는지 확인함</a:t>
              </a:r>
              <a:r>
                <a:rPr lang="en-US" altLang="ko-KR" dirty="0"/>
                <a:t>. </a:t>
              </a:r>
              <a:endParaRPr lang="ko-KR" altLang="en-US" dirty="0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E9C8761-28DA-8674-AD85-DF21D78F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351" y="1327675"/>
            <a:ext cx="1057423" cy="3334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7381069-29CE-3E6C-0FD3-4AD8C7E56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980" y="1887249"/>
            <a:ext cx="3181794" cy="42868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1712211-6E72-0BC8-44BF-315CF74B8C8F}"/>
              </a:ext>
            </a:extLst>
          </p:cNvPr>
          <p:cNvGrpSpPr/>
          <p:nvPr/>
        </p:nvGrpSpPr>
        <p:grpSpPr>
          <a:xfrm>
            <a:off x="593917" y="1900636"/>
            <a:ext cx="5028791" cy="409838"/>
            <a:chOff x="593917" y="1311385"/>
            <a:chExt cx="5028791" cy="409838"/>
          </a:xfrm>
        </p:grpSpPr>
        <p:grpSp>
          <p:nvGrpSpPr>
            <p:cNvPr id="12" name="그룹 11" descr="1단계를 나타내는 숫자 1이 표시된 작은 원">
              <a:extLst>
                <a:ext uri="{FF2B5EF4-FFF2-40B4-BE49-F238E27FC236}">
                  <a16:creationId xmlns:a16="http://schemas.microsoft.com/office/drawing/2014/main" id="{E2C6C1B7-79D8-C914-8C0B-184BBC1E93F3}"/>
                </a:ext>
              </a:extLst>
            </p:cNvPr>
            <p:cNvGrpSpPr/>
            <p:nvPr/>
          </p:nvGrpSpPr>
          <p:grpSpPr bwMode="blackWhite">
            <a:xfrm>
              <a:off x="593917" y="1311385"/>
              <a:ext cx="558179" cy="409838"/>
              <a:chOff x="6953426" y="711274"/>
              <a:chExt cx="558179" cy="409838"/>
            </a:xfrm>
          </p:grpSpPr>
          <p:sp>
            <p:nvSpPr>
              <p:cNvPr id="14" name="타원 13" descr="작은 원">
                <a:extLst>
                  <a:ext uri="{FF2B5EF4-FFF2-40B4-BE49-F238E27FC236}">
                    <a16:creationId xmlns:a16="http://schemas.microsoft.com/office/drawing/2014/main" id="{7BEFF9C0-7004-625F-E24A-388B36292B9F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" name="텍스트 상자 19" descr="숫자 1">
                <a:extLst>
                  <a:ext uri="{FF2B5EF4-FFF2-40B4-BE49-F238E27FC236}">
                    <a16:creationId xmlns:a16="http://schemas.microsoft.com/office/drawing/2014/main" id="{3D41D390-4F44-C3E9-D5E3-5B620C060E79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11</a:t>
                </a:r>
                <a:endPara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F174BE-8B49-BF28-289C-BFA5D3825F40}"/>
                </a:ext>
              </a:extLst>
            </p:cNvPr>
            <p:cNvSpPr txBox="1"/>
            <p:nvPr/>
          </p:nvSpPr>
          <p:spPr>
            <a:xfrm>
              <a:off x="970460" y="1333688"/>
              <a:ext cx="4652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</a:t>
              </a:r>
              <a:r>
                <a:rPr lang="ko-KR" altLang="en-US" dirty="0"/>
                <a:t>빌드를 선택함</a:t>
              </a:r>
              <a:r>
                <a:rPr lang="en-US" altLang="ko-KR" dirty="0"/>
                <a:t>. </a:t>
              </a:r>
              <a:endParaRPr lang="ko-KR" altLang="en-US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212F731-4339-A4A5-A4C6-CCC360608192}"/>
              </a:ext>
            </a:extLst>
          </p:cNvPr>
          <p:cNvGrpSpPr/>
          <p:nvPr/>
        </p:nvGrpSpPr>
        <p:grpSpPr>
          <a:xfrm>
            <a:off x="593917" y="2513550"/>
            <a:ext cx="11281923" cy="409838"/>
            <a:chOff x="593917" y="1311385"/>
            <a:chExt cx="11281923" cy="409838"/>
          </a:xfrm>
        </p:grpSpPr>
        <p:grpSp>
          <p:nvGrpSpPr>
            <p:cNvPr id="21" name="그룹 20" descr="1단계를 나타내는 숫자 1이 표시된 작은 원">
              <a:extLst>
                <a:ext uri="{FF2B5EF4-FFF2-40B4-BE49-F238E27FC236}">
                  <a16:creationId xmlns:a16="http://schemas.microsoft.com/office/drawing/2014/main" id="{F0926FB9-8350-7145-CBFB-AA16E101660C}"/>
                </a:ext>
              </a:extLst>
            </p:cNvPr>
            <p:cNvGrpSpPr/>
            <p:nvPr/>
          </p:nvGrpSpPr>
          <p:grpSpPr bwMode="blackWhite">
            <a:xfrm>
              <a:off x="593917" y="1311385"/>
              <a:ext cx="558179" cy="409838"/>
              <a:chOff x="6953426" y="711274"/>
              <a:chExt cx="558179" cy="409838"/>
            </a:xfrm>
          </p:grpSpPr>
          <p:sp>
            <p:nvSpPr>
              <p:cNvPr id="23" name="타원 22" descr="작은 원">
                <a:extLst>
                  <a:ext uri="{FF2B5EF4-FFF2-40B4-BE49-F238E27FC236}">
                    <a16:creationId xmlns:a16="http://schemas.microsoft.com/office/drawing/2014/main" id="{52C280B0-33BF-4F9E-2C9A-739E3848900D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" name="텍스트 상자 19" descr="숫자 1">
                <a:extLst>
                  <a:ext uri="{FF2B5EF4-FFF2-40B4-BE49-F238E27FC236}">
                    <a16:creationId xmlns:a16="http://schemas.microsoft.com/office/drawing/2014/main" id="{75C727D5-0880-D0AE-D39E-FFB47A6A82A9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12</a:t>
                </a:r>
                <a:endPara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0695367-DA78-214B-D1E6-C57A8B14FE8E}"/>
                </a:ext>
              </a:extLst>
            </p:cNvPr>
            <p:cNvSpPr txBox="1"/>
            <p:nvPr/>
          </p:nvSpPr>
          <p:spPr>
            <a:xfrm>
              <a:off x="970459" y="1333688"/>
              <a:ext cx="10905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</a:t>
              </a:r>
              <a:r>
                <a:rPr lang="ko-KR" altLang="en-US" dirty="0"/>
                <a:t>모델</a:t>
              </a:r>
              <a:r>
                <a:rPr lang="en-US" altLang="ko-KR" dirty="0"/>
                <a:t>(	        )</a:t>
              </a:r>
              <a:r>
                <a:rPr lang="ko-KR" altLang="en-US" dirty="0"/>
                <a:t>을 선택을 하고</a:t>
              </a:r>
              <a:r>
                <a:rPr lang="en-US" altLang="ko-KR" dirty="0"/>
                <a:t>,	           </a:t>
              </a:r>
              <a:r>
                <a:rPr lang="ko-KR" altLang="en-US" dirty="0"/>
                <a:t>를 선택한 다음</a:t>
              </a:r>
              <a:r>
                <a:rPr lang="en-US" altLang="ko-KR" dirty="0"/>
                <a:t>. gpt-4.1</a:t>
              </a:r>
              <a:r>
                <a:rPr lang="ko-KR" altLang="en-US" dirty="0"/>
                <a:t>과 </a:t>
              </a:r>
              <a:r>
                <a:rPr lang="en-US" altLang="ko-KR" dirty="0"/>
                <a:t>text-embedding-3-small </a:t>
              </a:r>
              <a:r>
                <a:rPr lang="ko-KR" altLang="en-US" dirty="0"/>
                <a:t>배포함</a:t>
              </a:r>
              <a:r>
                <a:rPr lang="en-US" altLang="ko-KR" dirty="0"/>
                <a:t>.                      </a:t>
              </a:r>
              <a:endParaRPr lang="ko-KR" altLang="en-US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99E7E345-56D3-F0F7-149E-0BCE5EE11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636" y="2542335"/>
            <a:ext cx="714475" cy="38105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2D9ABA0-FEBA-461C-28F8-E60CCBA99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007" y="2499066"/>
            <a:ext cx="1171739" cy="40010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18523DD-1563-7380-6084-290BC9D333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856" y="3016626"/>
            <a:ext cx="1381318" cy="54300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5648290-D358-4466-0E8C-6BCF1DCB1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8411" y="3016625"/>
            <a:ext cx="2143424" cy="543001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4F24A1-15EB-3088-DDD3-C3A9C85F55DE}"/>
              </a:ext>
            </a:extLst>
          </p:cNvPr>
          <p:cNvGrpSpPr/>
          <p:nvPr/>
        </p:nvGrpSpPr>
        <p:grpSpPr>
          <a:xfrm>
            <a:off x="593917" y="3729694"/>
            <a:ext cx="11281923" cy="409838"/>
            <a:chOff x="593917" y="1311385"/>
            <a:chExt cx="11281923" cy="409838"/>
          </a:xfrm>
        </p:grpSpPr>
        <p:grpSp>
          <p:nvGrpSpPr>
            <p:cNvPr id="36" name="그룹 35" descr="1단계를 나타내는 숫자 1이 표시된 작은 원">
              <a:extLst>
                <a:ext uri="{FF2B5EF4-FFF2-40B4-BE49-F238E27FC236}">
                  <a16:creationId xmlns:a16="http://schemas.microsoft.com/office/drawing/2014/main" id="{AE9ABECC-4D45-903C-C879-74C290BAD8ED}"/>
                </a:ext>
              </a:extLst>
            </p:cNvPr>
            <p:cNvGrpSpPr/>
            <p:nvPr/>
          </p:nvGrpSpPr>
          <p:grpSpPr bwMode="blackWhite">
            <a:xfrm>
              <a:off x="593917" y="1311385"/>
              <a:ext cx="558179" cy="409838"/>
              <a:chOff x="6953426" y="711274"/>
              <a:chExt cx="558179" cy="409838"/>
            </a:xfrm>
          </p:grpSpPr>
          <p:sp>
            <p:nvSpPr>
              <p:cNvPr id="38" name="타원 37" descr="작은 원">
                <a:extLst>
                  <a:ext uri="{FF2B5EF4-FFF2-40B4-BE49-F238E27FC236}">
                    <a16:creationId xmlns:a16="http://schemas.microsoft.com/office/drawing/2014/main" id="{CF62F3B8-3BFD-DA72-AEDE-5B2D6E3CE812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9" name="텍스트 상자 19" descr="숫자 1">
                <a:extLst>
                  <a:ext uri="{FF2B5EF4-FFF2-40B4-BE49-F238E27FC236}">
                    <a16:creationId xmlns:a16="http://schemas.microsoft.com/office/drawing/2014/main" id="{5EB5299F-4EB2-678F-411C-AAF3811A90B4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13</a:t>
                </a:r>
                <a:endPara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F93630-DBA0-4224-52AC-90C80DEE5E21}"/>
                </a:ext>
              </a:extLst>
            </p:cNvPr>
            <p:cNvSpPr txBox="1"/>
            <p:nvPr/>
          </p:nvSpPr>
          <p:spPr>
            <a:xfrm>
              <a:off x="970459" y="1333688"/>
              <a:ext cx="10905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</a:t>
              </a:r>
              <a:endParaRPr lang="ko-KR" altLang="en-US" dirty="0"/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A791900E-BB74-C08F-A57A-C6F72FC5FE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2856" y="3745984"/>
            <a:ext cx="10869542" cy="2734057"/>
          </a:xfrm>
          <a:prstGeom prst="rect">
            <a:avLst/>
          </a:prstGeom>
        </p:spPr>
      </p:pic>
      <p:sp>
        <p:nvSpPr>
          <p:cNvPr id="44" name="제목 3">
            <a:extLst>
              <a:ext uri="{FF2B5EF4-FFF2-40B4-BE49-F238E27FC236}">
                <a16:creationId xmlns:a16="http://schemas.microsoft.com/office/drawing/2014/main" id="{B571C0FB-8CA7-E2EF-67AE-415063AA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47675"/>
            <a:ext cx="6877050" cy="639763"/>
          </a:xfrm>
        </p:spPr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Microsoft Foundry Project </a:t>
            </a:r>
            <a:r>
              <a:rPr lang="ko-KR" altLang="en-US" dirty="0">
                <a:cs typeface="Segoe UI Light" panose="020B0502040204020203" pitchFamily="34" charset="0"/>
              </a:rPr>
              <a:t>설정</a:t>
            </a:r>
            <a:endParaRPr lang="ko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695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1F22-7DAD-0A4F-2863-2D6CC1BF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ACF48802-2067-DB3A-7A42-B758D1B4C117}"/>
              </a:ext>
            </a:extLst>
          </p:cNvPr>
          <p:cNvGrpSpPr/>
          <p:nvPr/>
        </p:nvGrpSpPr>
        <p:grpSpPr>
          <a:xfrm>
            <a:off x="593917" y="1311385"/>
            <a:ext cx="9208905" cy="409838"/>
            <a:chOff x="593917" y="1311385"/>
            <a:chExt cx="9208905" cy="409838"/>
          </a:xfrm>
        </p:grpSpPr>
        <p:grpSp>
          <p:nvGrpSpPr>
            <p:cNvPr id="18" name="그룹 17" descr="1단계를 나타내는 숫자 1이 표시된 작은 원">
              <a:extLst>
                <a:ext uri="{FF2B5EF4-FFF2-40B4-BE49-F238E27FC236}">
                  <a16:creationId xmlns:a16="http://schemas.microsoft.com/office/drawing/2014/main" id="{BF947A60-E817-BE46-B70F-7D987745C73B}"/>
                </a:ext>
              </a:extLst>
            </p:cNvPr>
            <p:cNvGrpSpPr/>
            <p:nvPr/>
          </p:nvGrpSpPr>
          <p:grpSpPr bwMode="blackWhite">
            <a:xfrm>
              <a:off x="593917" y="1311385"/>
              <a:ext cx="558179" cy="409838"/>
              <a:chOff x="6953426" y="711274"/>
              <a:chExt cx="558179" cy="409838"/>
            </a:xfrm>
          </p:grpSpPr>
          <p:sp>
            <p:nvSpPr>
              <p:cNvPr id="19" name="타원 18" descr="작은 원">
                <a:extLst>
                  <a:ext uri="{FF2B5EF4-FFF2-40B4-BE49-F238E27FC236}">
                    <a16:creationId xmlns:a16="http://schemas.microsoft.com/office/drawing/2014/main" id="{CB5822CC-08D7-FACF-6ECF-4102552DCC27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텍스트 상자 19" descr="숫자 1">
                <a:extLst>
                  <a:ext uri="{FF2B5EF4-FFF2-40B4-BE49-F238E27FC236}">
                    <a16:creationId xmlns:a16="http://schemas.microsoft.com/office/drawing/2014/main" id="{E0A06C4B-0905-923A-0046-DCBA064FCD30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14</a:t>
                </a:r>
                <a:endPara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D44972-C994-9C05-61F1-D378EFD17C84}"/>
                </a:ext>
              </a:extLst>
            </p:cNvPr>
            <p:cNvSpPr txBox="1"/>
            <p:nvPr/>
          </p:nvSpPr>
          <p:spPr>
            <a:xfrm>
              <a:off x="970460" y="1333688"/>
              <a:ext cx="8832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</a:t>
              </a:r>
              <a:r>
                <a:rPr lang="ko-KR" altLang="en-US" dirty="0"/>
                <a:t>초기 페이지로 가면 </a:t>
              </a:r>
              <a:r>
                <a:rPr lang="en-US" altLang="ko-KR" dirty="0"/>
                <a:t>Azure OpenAI </a:t>
              </a:r>
              <a:r>
                <a:rPr lang="ko-KR" altLang="en-US" dirty="0" err="1"/>
                <a:t>엔드포이트는</a:t>
              </a:r>
              <a:r>
                <a:rPr lang="ko-KR" altLang="en-US" dirty="0"/>
                <a:t> 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357B237-E0CF-78AD-B4EB-B1D709BB9658}"/>
              </a:ext>
            </a:extLst>
          </p:cNvPr>
          <p:cNvSpPr txBox="1"/>
          <p:nvPr/>
        </p:nvSpPr>
        <p:spPr>
          <a:xfrm>
            <a:off x="1075398" y="1691661"/>
            <a:ext cx="10768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https://kt-workshop-foundry</a:t>
            </a:r>
            <a:r>
              <a:rPr lang="en-US" altLang="ko-KR" dirty="0">
                <a:hlinkClick r:id="rId3"/>
              </a:rPr>
              <a:t>-</a:t>
            </a:r>
            <a:r>
              <a:rPr lang="ko-KR" altLang="en-US" dirty="0" err="1">
                <a:hlinkClick r:id="rId3"/>
              </a:rPr>
              <a:t>kuko.openai.azure.com</a:t>
            </a:r>
            <a:r>
              <a:rPr lang="ko-KR" altLang="en-US" dirty="0">
                <a:hlinkClick r:id="rId3"/>
              </a:rPr>
              <a:t>/openai/v1</a:t>
            </a:r>
            <a:r>
              <a:rPr lang="ko-KR" altLang="en-US" dirty="0"/>
              <a:t> 으로 되어 있는데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환경 변수에는 </a:t>
            </a:r>
            <a:r>
              <a:rPr lang="en-US" altLang="ko-KR" dirty="0"/>
              <a:t>AZURE_OPENAI_ENDPOINT=</a:t>
            </a:r>
            <a:r>
              <a:rPr lang="ko-KR" altLang="en-US" dirty="0">
                <a:hlinkClick r:id="rId4"/>
              </a:rPr>
              <a:t>https://kt-workshop-foundry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 err="1">
                <a:hlinkClick r:id="rId4"/>
              </a:rPr>
              <a:t>kuko.openai.azure.com</a:t>
            </a:r>
            <a:r>
              <a:rPr lang="ko-KR" altLang="en-US" dirty="0">
                <a:hlinkClick r:id="rId4"/>
              </a:rPr>
              <a:t>/</a:t>
            </a:r>
            <a:r>
              <a:rPr lang="ko-KR" altLang="en-US" dirty="0"/>
              <a:t> 입력함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7E5E9C-DC49-1051-1468-DF505FB0857F}"/>
              </a:ext>
            </a:extLst>
          </p:cNvPr>
          <p:cNvSpPr/>
          <p:nvPr/>
        </p:nvSpPr>
        <p:spPr>
          <a:xfrm>
            <a:off x="1121053" y="2727294"/>
            <a:ext cx="10722902" cy="19810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AZURE_OPENAI_ENDPOINT=https://lab-foundry-kuko.openai.azure.com/</a:t>
            </a:r>
          </a:p>
          <a:p>
            <a:r>
              <a:rPr lang="en-US" altLang="ko-KR" dirty="0"/>
              <a:t>AZURE_OPENAI_KEY=</a:t>
            </a:r>
            <a:r>
              <a:rPr lang="en-US" altLang="ko-KR" dirty="0" err="1"/>
              <a:t>xxxx</a:t>
            </a:r>
            <a:endParaRPr lang="en-US" altLang="ko-KR" dirty="0"/>
          </a:p>
          <a:p>
            <a:r>
              <a:rPr lang="en-US" altLang="ko-KR" dirty="0"/>
              <a:t>AZURE_OPENAI_DEPLOYMENT_NAME=gpt-4.1</a:t>
            </a:r>
          </a:p>
          <a:p>
            <a:r>
              <a:rPr lang="en-US" altLang="ko-KR" dirty="0"/>
              <a:t>EMBEDDING_MODEL_NAME=text-embedding-3-small</a:t>
            </a:r>
          </a:p>
          <a:p>
            <a:r>
              <a:rPr lang="en-US" altLang="ko-KR" dirty="0"/>
              <a:t>SERP_API_KEY=</a:t>
            </a:r>
            <a:r>
              <a:rPr lang="en-US" altLang="ko-KR" dirty="0" err="1"/>
              <a:t>xxxxxxxxxxxxxxxxxxxxxxxxxxxxxxxxxxxxxxx</a:t>
            </a:r>
            <a:endParaRPr lang="en-US" altLang="ko-KR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8A2E13-EE26-95FA-EC3C-E79EFDC1A1A2}"/>
              </a:ext>
            </a:extLst>
          </p:cNvPr>
          <p:cNvSpPr/>
          <p:nvPr/>
        </p:nvSpPr>
        <p:spPr>
          <a:xfrm>
            <a:off x="1121053" y="2407965"/>
            <a:ext cx="748451" cy="28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.env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9F67DFD-ECC6-FF8A-3897-52D3D2B76EAD}"/>
              </a:ext>
            </a:extLst>
          </p:cNvPr>
          <p:cNvGrpSpPr/>
          <p:nvPr/>
        </p:nvGrpSpPr>
        <p:grpSpPr>
          <a:xfrm>
            <a:off x="665560" y="4892691"/>
            <a:ext cx="9208905" cy="409838"/>
            <a:chOff x="593917" y="1311385"/>
            <a:chExt cx="9208905" cy="409838"/>
          </a:xfrm>
        </p:grpSpPr>
        <p:grpSp>
          <p:nvGrpSpPr>
            <p:cNvPr id="29" name="그룹 28" descr="1단계를 나타내는 숫자 1이 표시된 작은 원">
              <a:extLst>
                <a:ext uri="{FF2B5EF4-FFF2-40B4-BE49-F238E27FC236}">
                  <a16:creationId xmlns:a16="http://schemas.microsoft.com/office/drawing/2014/main" id="{F0F7BE11-555E-2277-2AAF-2A28ECE696A2}"/>
                </a:ext>
              </a:extLst>
            </p:cNvPr>
            <p:cNvGrpSpPr/>
            <p:nvPr/>
          </p:nvGrpSpPr>
          <p:grpSpPr bwMode="blackWhite">
            <a:xfrm>
              <a:off x="593917" y="1311385"/>
              <a:ext cx="558179" cy="409838"/>
              <a:chOff x="6953426" y="711274"/>
              <a:chExt cx="558179" cy="409838"/>
            </a:xfrm>
          </p:grpSpPr>
          <p:sp>
            <p:nvSpPr>
              <p:cNvPr id="33" name="타원 32" descr="작은 원">
                <a:extLst>
                  <a:ext uri="{FF2B5EF4-FFF2-40B4-BE49-F238E27FC236}">
                    <a16:creationId xmlns:a16="http://schemas.microsoft.com/office/drawing/2014/main" id="{0422DB7C-176B-9EAE-3686-05712E923407}"/>
                  </a:ext>
                </a:extLst>
              </p:cNvPr>
              <p:cNvSpPr/>
              <p:nvPr/>
            </p:nvSpPr>
            <p:spPr bwMode="blackWhite">
              <a:xfrm>
                <a:off x="7025069" y="711274"/>
                <a:ext cx="409838" cy="409838"/>
              </a:xfrm>
              <a:prstGeom prst="ellipse">
                <a:avLst/>
              </a:prstGeom>
              <a:solidFill>
                <a:srgbClr val="D247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4" name="텍스트 상자 19" descr="숫자 1">
                <a:extLst>
                  <a:ext uri="{FF2B5EF4-FFF2-40B4-BE49-F238E27FC236}">
                    <a16:creationId xmlns:a16="http://schemas.microsoft.com/office/drawing/2014/main" id="{3C72D1F2-5158-6533-89D9-77CB2BB7DBA2}"/>
                  </a:ext>
                </a:extLst>
              </p:cNvPr>
              <p:cNvSpPr txBox="1">
                <a:spLocks noChangeAspect="1"/>
              </p:cNvSpPr>
              <p:nvPr/>
            </p:nvSpPr>
            <p:spPr bwMode="blackWhite">
              <a:xfrm>
                <a:off x="6953426" y="727564"/>
                <a:ext cx="5581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en-US" altLang="ko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 Semibold" panose="020B0702040204020203" pitchFamily="34" charset="0"/>
                  </a:rPr>
                  <a:t>15</a:t>
                </a:r>
                <a:endParaRPr lang="ko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4C3B73-5EF6-BC8B-BE09-8A82EC291BF6}"/>
                </a:ext>
              </a:extLst>
            </p:cNvPr>
            <p:cNvSpPr txBox="1"/>
            <p:nvPr/>
          </p:nvSpPr>
          <p:spPr>
            <a:xfrm>
              <a:off x="970460" y="1333688"/>
              <a:ext cx="8832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</a:t>
              </a:r>
              <a:r>
                <a:rPr lang="en-US" altLang="ko-KR" dirty="0">
                  <a:hlinkClick r:id="rId5"/>
                </a:rPr>
                <a:t>https://serpapi.com/</a:t>
              </a:r>
              <a:r>
                <a:rPr lang="en-US" altLang="ko-KR" dirty="0"/>
                <a:t> </a:t>
              </a:r>
              <a:r>
                <a:rPr lang="ko-KR" altLang="en-US" dirty="0"/>
                <a:t>등록 후</a:t>
              </a:r>
              <a:r>
                <a:rPr lang="en-US" altLang="ko-KR" dirty="0"/>
                <a:t>, private key</a:t>
              </a:r>
              <a:r>
                <a:rPr lang="ko-KR" altLang="en-US" dirty="0"/>
                <a:t>확인 후 </a:t>
              </a:r>
              <a:r>
                <a:rPr lang="en-US" altLang="ko-KR" dirty="0"/>
                <a:t>.env</a:t>
              </a:r>
              <a:r>
                <a:rPr lang="ko-KR" altLang="en-US" dirty="0"/>
                <a:t>파일에 업데이트 필요</a:t>
              </a:r>
              <a:r>
                <a:rPr lang="en-US" altLang="ko-KR" dirty="0"/>
                <a:t>.</a:t>
              </a:r>
              <a:r>
                <a:rPr lang="ko-KR" altLang="en-US" dirty="0"/>
                <a:t> 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</p:grpSp>
      <p:pic>
        <p:nvPicPr>
          <p:cNvPr id="46" name="그림 45">
            <a:extLst>
              <a:ext uri="{FF2B5EF4-FFF2-40B4-BE49-F238E27FC236}">
                <a16:creationId xmlns:a16="http://schemas.microsoft.com/office/drawing/2014/main" id="{2CDD3255-AF2D-C1D4-1AF9-2CF9BAB40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683" y="5302529"/>
            <a:ext cx="7289213" cy="1181777"/>
          </a:xfrm>
          <a:prstGeom prst="rect">
            <a:avLst/>
          </a:prstGeom>
        </p:spPr>
      </p:pic>
      <p:sp>
        <p:nvSpPr>
          <p:cNvPr id="49" name="제목 3">
            <a:extLst>
              <a:ext uri="{FF2B5EF4-FFF2-40B4-BE49-F238E27FC236}">
                <a16:creationId xmlns:a16="http://schemas.microsoft.com/office/drawing/2014/main" id="{FFDFC48C-C15F-0F84-367E-59D70C1D4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47675"/>
            <a:ext cx="6877050" cy="639763"/>
          </a:xfrm>
        </p:spPr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Microsoft Foundry Project </a:t>
            </a:r>
            <a:r>
              <a:rPr lang="ko-KR" altLang="en-US" dirty="0">
                <a:cs typeface="Segoe UI Light" panose="020B0502040204020203" pitchFamily="34" charset="0"/>
              </a:rPr>
              <a:t>설정</a:t>
            </a:r>
            <a:endParaRPr lang="ko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103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{ABBAB921-5B7A-4204-AFA5-ACC9B123FF53}TF2989475c-5427-4edb-9ec1-00f4ce72165be756b0ce_win32-2ff1dad8fff0</Template>
  <TotalTime>306</TotalTime>
  <Words>363</Words>
  <Application>Microsoft Office PowerPoint</Application>
  <PresentationFormat>와이드스크린</PresentationFormat>
  <Paragraphs>62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Segoe UI Light</vt:lpstr>
      <vt:lpstr>WelcomeDoc</vt:lpstr>
      <vt:lpstr>Microsoft Foundry 실습을 위한</vt:lpstr>
      <vt:lpstr>Microsoft Foundry Project 설정</vt:lpstr>
      <vt:lpstr>Microsoft Foundry Project 설정</vt:lpstr>
      <vt:lpstr>Microsoft Foundry Project 설정</vt:lpstr>
      <vt:lpstr>Microsoft Foundry Project 설정</vt:lpstr>
      <vt:lpstr>Microsoft Foundry Project 설정</vt:lpstr>
      <vt:lpstr>Microsoft Foundry Project 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 Ho Ko</dc:creator>
  <cp:keywords/>
  <cp:lastModifiedBy>Kun Ho Ko</cp:lastModifiedBy>
  <cp:revision>2</cp:revision>
  <dcterms:created xsi:type="dcterms:W3CDTF">2026-03-16T05:02:09Z</dcterms:created>
  <dcterms:modified xsi:type="dcterms:W3CDTF">2026-03-16T10:09:07Z</dcterms:modified>
  <cp:version/>
</cp:coreProperties>
</file>